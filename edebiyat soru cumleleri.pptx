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6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74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3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8DE6C8-AB1D-4204-BC9C-3366B0BF04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78426" y="889820"/>
            <a:ext cx="9989574" cy="3598606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7B9009-EE50-4EE5-B6EB-CD6EC83D3FA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78426" y="4488426"/>
            <a:ext cx="6991776" cy="1302774"/>
          </a:xfrm>
        </p:spPr>
        <p:txBody>
          <a:bodyPr anchor="b">
            <a:normAutofit/>
          </a:bodyPr>
          <a:lstStyle>
            <a:lvl1pPr marL="0" indent="0" algn="l">
              <a:buNone/>
              <a:defRPr sz="20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C8667E-058A-436F-B8EA-5B3A99D43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680305-1AD7-482D-BFFD-6CDB83AB39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5762A1-52E9-402D-B65E-DF193E44CE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3537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987CA6-BFD9-4CB1-8892-F6B062E82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CDA8C3-9C0C-4E52-9A62-E4DB159E6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C3EC35-E02F-41FF-9232-F90692A902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D13D38-5DF1-443B-8A12-71E834FDC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5E644A-4A37-4757-9809-5B035E287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77860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E6578B-CD85-4BF1-A729-E8E8079B59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5383" y="1709738"/>
            <a:ext cx="10632067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58448C1-C13F-4826-8347-EEB00A6643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3" y="4589463"/>
            <a:ext cx="10632067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06546A-957F-4C4D-9744-1177AD258E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DB149C-CC63-4E3A-A83D-EF637EB51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B94775-7982-41EC-B584-D51224D38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38595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CE4BD8-507D-48E4-A624-F16A741C36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12793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A07E4-3A39-457C-A059-7DFB6039D94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715383" y="2128684"/>
            <a:ext cx="5304417" cy="38444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141E17-47CE-4A78-B0FA-0E9786DA67C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128684"/>
            <a:ext cx="5219700" cy="3844414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F02C13-D3ED-4044-9716-F29D79A184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AF334AD-FB29-4355-B5CF-85E61B4F34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A5AA154-790C-4774-9C21-8C543E733F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81965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07DD35-7673-4F88-86B0-634883B5E3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5887" y="929148"/>
            <a:ext cx="10640005" cy="76154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820D7-3E0B-47C6-A583-C4C839C5AF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5384" y="1681163"/>
            <a:ext cx="5282192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39A7B-97D5-400F-B802-A0FF28FE9F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715384" y="2505075"/>
            <a:ext cx="5282192" cy="342377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E0ECA2-DBF1-4681-9DFA-93AFD1B371D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657225"/>
          </a:xfrm>
        </p:spPr>
        <p:txBody>
          <a:bodyPr anchor="b">
            <a:normAutofit/>
          </a:bodyPr>
          <a:lstStyle>
            <a:lvl1pPr marL="0" indent="0">
              <a:buNone/>
              <a:defRPr sz="1600" b="1">
                <a:latin typeface="+mj-lt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0EBBBB-517F-4ED7-9E51-CF0F7590B4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42377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11B5C7-1E37-478F-B4B0-C7202FFE41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153F7EF-507C-4CB3-86C5-8B34FFFC1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8E3DEA6-E4EB-4C2A-8B4F-55EC965B62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0458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032964-A933-4B98-A141-A4B316DAF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D684C9D-23DA-42B0-9DD3-7592F72E8D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BF8F05-876F-49D8-AE30-5BB2A91ECD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53D20DA-9260-4577-BB51-789570A243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08086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D2C1F24-E0A1-45A7-8EF5-92CD979934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E021C19-210E-46B0-9036-5D8AECC92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880FEF-487E-44DF-8615-DF22104196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7750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A568EE-74C8-43A6-90BC-2DDD965CF6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426" y="781665"/>
            <a:ext cx="4093599" cy="1223452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1C35AC-CAE3-48CF-A3E4-A075C9F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D9D03EA-5FAD-4609-A2B8-624E426847E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8258" y="2315497"/>
            <a:ext cx="4093599" cy="355349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B58D2EA-2191-4216-B64D-067BDFE12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042128-DAB4-481C-BEE6-3523E8E88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0E382-C500-4A4C-A7C6-43860383A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9334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9FE98B-EACF-4251-A8AF-0D9EDD17C6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3342" y="1066800"/>
            <a:ext cx="4103431" cy="131752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905F473-761A-4002-AF70-9FF878D0139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1066800"/>
            <a:ext cx="6172200" cy="4794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0C2E6A-F834-4540-BB00-E13CB45DC36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83342" y="2552700"/>
            <a:ext cx="4103431" cy="33162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C38EAB-AD63-415C-B263-BA1D8FBE3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22E5541-B6DE-45E8-BCFE-0DFC4F5740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B78D45-289B-46AF-8CB9-E6150BEA17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947627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359C1-C098-4BF4-A55D-782F4E606B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D343C7E-1E8B-4D38-9B81-1AA2A8978E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A70B00-53AE-4D3F-91BE-A8D789ED9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647FC7-8124-4F70-A849-B6BCC5189C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7CEBE4-50DC-47DB-B699-CCC024336C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69888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B418279-D3B8-4C6A-AB74-9DE37777127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42322" y="997974"/>
            <a:ext cx="2349043" cy="4984956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28F733C-9309-4197-BACA-207CDC8935C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997973"/>
            <a:ext cx="8404122" cy="498495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ACD4D0-5BE6-412D-B08B-5DFFD5935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3E8B1C-86EF-43CF-8304-249481088644}" type="datetimeFigureOut">
              <a:rPr lang="en-US" smtClean="0"/>
              <a:t>3/15/2022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021651-B786-4A39-A10F-F5231D0A2C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504D2D-9379-40DE-9F45-3004BE54F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B2ADC-AF19-4574-8C10-79B5B04FCA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251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A362AC-B59F-4AC7-B279-57DDD5336B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2096"/>
            <a:ext cx="10691265" cy="137103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6042DB-75BD-4EC1-B6D9-8A72EF940CA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00635" y="2293126"/>
            <a:ext cx="10691265" cy="3636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DD1378-7C96-4079-B44C-3D86B465759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69448" y="6356350"/>
            <a:ext cx="259259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fld id="{2F3E8B1C-86EF-43CF-8304-249481088644}" type="datetimeFigureOut">
              <a:rPr lang="en-US" smtClean="0"/>
              <a:pPr/>
              <a:t>3/15/2022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9B6B78-577F-43F5-BAEE-BF72484C98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15383" y="6356350"/>
            <a:ext cx="45397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>
                <a:solidFill>
                  <a:schemeClr val="tx1"/>
                </a:solidFill>
                <a:latin typeface="+mj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CC75B8-AF8F-4D8A-9B3D-D1951A64BA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919012" y="6356350"/>
            <a:ext cx="67235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800">
                <a:solidFill>
                  <a:schemeClr val="tx1"/>
                </a:solidFill>
              </a:defRPr>
            </a:lvl1pPr>
          </a:lstStyle>
          <a:p>
            <a:fld id="{C3DB2ADC-AF19-4574-8C10-79B5B04FCA27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64F9B95-9045-48D2-B9F3-2927E98F54AA}"/>
              </a:ext>
            </a:extLst>
          </p:cNvPr>
          <p:cNvCxnSpPr>
            <a:cxnSpLocks/>
          </p:cNvCxnSpPr>
          <p:nvPr/>
        </p:nvCxnSpPr>
        <p:spPr>
          <a:xfrm>
            <a:off x="800100" y="723900"/>
            <a:ext cx="10591800" cy="0"/>
          </a:xfrm>
          <a:prstGeom prst="line">
            <a:avLst/>
          </a:prstGeom>
          <a:ln w="444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085AA86F-6A4D-4BCB-A045-D992CDC2959B}"/>
              </a:ext>
            </a:extLst>
          </p:cNvPr>
          <p:cNvCxnSpPr>
            <a:cxnSpLocks/>
          </p:cNvCxnSpPr>
          <p:nvPr/>
        </p:nvCxnSpPr>
        <p:spPr>
          <a:xfrm>
            <a:off x="800100" y="6142781"/>
            <a:ext cx="105918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00390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2" r:id="rId1"/>
    <p:sldLayoutId id="2147483683" r:id="rId2"/>
    <p:sldLayoutId id="2147483684" r:id="rId3"/>
    <p:sldLayoutId id="2147483685" r:id="rId4"/>
    <p:sldLayoutId id="2147483675" r:id="rId5"/>
    <p:sldLayoutId id="2147483680" r:id="rId6"/>
    <p:sldLayoutId id="2147483676" r:id="rId7"/>
    <p:sldLayoutId id="2147483677" r:id="rId8"/>
    <p:sldLayoutId id="2147483678" r:id="rId9"/>
    <p:sldLayoutId id="2147483679" r:id="rId10"/>
    <p:sldLayoutId id="214748368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 cap="all" spc="3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8">
            <a:extLst>
              <a:ext uri="{FF2B5EF4-FFF2-40B4-BE49-F238E27FC236}">
                <a16:creationId xmlns:a16="http://schemas.microsoft.com/office/drawing/2014/main" id="{85CB65D0-496F-4797-A015-C85839E35D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7" name="Picture 3" descr="3B işlemede sonsuz soru işaretleri">
            <a:extLst>
              <a:ext uri="{FF2B5EF4-FFF2-40B4-BE49-F238E27FC236}">
                <a16:creationId xmlns:a16="http://schemas.microsoft.com/office/drawing/2014/main" id="{A65B6344-AB98-AD95-AAE9-D7A4DE0C4C1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15730"/>
          <a:stretch/>
        </p:blipFill>
        <p:spPr>
          <a:xfrm>
            <a:off x="1" y="10"/>
            <a:ext cx="12192000" cy="6857989"/>
          </a:xfrm>
          <a:prstGeom prst="rect">
            <a:avLst/>
          </a:prstGeom>
        </p:spPr>
      </p:pic>
      <p:sp>
        <p:nvSpPr>
          <p:cNvPr id="28" name="Rectangle 10">
            <a:extLst>
              <a:ext uri="{FF2B5EF4-FFF2-40B4-BE49-F238E27FC236}">
                <a16:creationId xmlns:a16="http://schemas.microsoft.com/office/drawing/2014/main" id="{95D2C779-8883-4E5F-A170-0F464918C1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2307" y="990598"/>
            <a:ext cx="12188952" cy="4745182"/>
          </a:xfrm>
          <a:prstGeom prst="rect">
            <a:avLst/>
          </a:prstGeom>
          <a:gradFill>
            <a:gsLst>
              <a:gs pos="35000">
                <a:srgbClr val="000000">
                  <a:alpha val="41000"/>
                </a:srgbClr>
              </a:gs>
              <a:gs pos="0">
                <a:srgbClr val="000000">
                  <a:alpha val="0"/>
                </a:srgbClr>
              </a:gs>
              <a:gs pos="47744">
                <a:srgbClr val="000000">
                  <a:alpha val="51000"/>
                </a:srgbClr>
              </a:gs>
              <a:gs pos="70000">
                <a:srgbClr val="000000">
                  <a:alpha val="37000"/>
                </a:srgbClr>
              </a:gs>
              <a:gs pos="100000">
                <a:srgbClr val="000000">
                  <a:alpha val="0"/>
                </a:srgb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Başlık 1">
            <a:extLst>
              <a:ext uri="{FF2B5EF4-FFF2-40B4-BE49-F238E27FC236}">
                <a16:creationId xmlns:a16="http://schemas.microsoft.com/office/drawing/2014/main" id="{0116E5A2-108E-473A-A861-4C333A65EB6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833541" y="990599"/>
            <a:ext cx="5619054" cy="4849091"/>
          </a:xfrm>
        </p:spPr>
        <p:txBody>
          <a:bodyPr anchor="ctr">
            <a:normAutofit/>
          </a:bodyPr>
          <a:lstStyle/>
          <a:p>
            <a:pPr algn="r"/>
            <a:r>
              <a:rPr lang="tr-TR" dirty="0">
                <a:solidFill>
                  <a:srgbClr val="FFFFFF"/>
                </a:solidFill>
              </a:rPr>
              <a:t>Soru Cümleleri</a:t>
            </a:r>
          </a:p>
        </p:txBody>
      </p:sp>
      <p:cxnSp>
        <p:nvCxnSpPr>
          <p:cNvPr id="29" name="Straight Connector 12">
            <a:extLst>
              <a:ext uri="{FF2B5EF4-FFF2-40B4-BE49-F238E27FC236}">
                <a16:creationId xmlns:a16="http://schemas.microsoft.com/office/drawing/2014/main" id="{BD96A694-258D-4418-A83C-B9BA72FD44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V="1">
            <a:off x="8115300" y="1780927"/>
            <a:ext cx="0" cy="3390901"/>
          </a:xfrm>
          <a:prstGeom prst="line">
            <a:avLst/>
          </a:prstGeom>
          <a:ln w="44450">
            <a:solidFill>
              <a:srgbClr val="FFFFFF"/>
            </a:solidFill>
          </a:ln>
          <a:effectLst>
            <a:outerShdw blurRad="50800" dist="38100" dir="2700000" sx="88000" sy="88000" algn="tl" rotWithShape="0">
              <a:prstClr val="black">
                <a:alpha val="26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569995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AD1D21A3-F7DC-4CCA-A110-EA32D94BE7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solidFill>
                  <a:srgbClr val="FF0000"/>
                </a:solidFill>
              </a:rPr>
              <a:t>Soru cümlesi nedir?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E85EDDE-6E4D-4472-8205-63182EC405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Soru anlamı taşıyan cümlelere soru cümlesi denir. Bu cümlelerin sonuna (-mı, -mi, -mısın, -misin) eklerinden biri getirilir.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>
                <a:solidFill>
                  <a:srgbClr val="000000"/>
                </a:solidFill>
                <a:latin typeface="Arial" panose="020B0604020202020204" pitchFamily="34" charset="0"/>
              </a:rPr>
              <a:t>S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oru cümlelerinde ''nasıl, neden, niçin'' gibi soru zarfları da kullanılabilir. 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>
                <a:solidFill>
                  <a:srgbClr val="000000"/>
                </a:solidFill>
                <a:latin typeface="Arial" panose="020B0604020202020204" pitchFamily="34" charset="0"/>
              </a:rPr>
              <a:t>Soru cümlelerinde 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‘kaç, kaçıncı, hangi'' gibi soru sıfatları da kullanılabilir. </a:t>
            </a:r>
          </a:p>
        </p:txBody>
      </p:sp>
    </p:spTree>
    <p:extLst>
      <p:ext uri="{BB962C8B-B14F-4D97-AF65-F5344CB8AC3E}">
        <p14:creationId xmlns:p14="http://schemas.microsoft.com/office/powerpoint/2010/main" val="15122251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9C586DE-3C1B-45D3-9D76-F3319E5E67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solidFill>
                  <a:srgbClr val="FF0000"/>
                </a:solidFill>
              </a:rPr>
              <a:t>Soru Cümlesi örnekleri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89174452-1F91-4DAB-A1FD-46CB7C215B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tr-TR" dirty="0"/>
              <a:t>Senin annen öğretmen mi?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/>
              <a:t>Odanı toplar mısın?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/>
              <a:t>Benimle dışarı çıkar mısın?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/>
              <a:t>Ödevini yaptın mı?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/>
              <a:t>Bu kitapları okudun mu?</a:t>
            </a:r>
          </a:p>
          <a:p>
            <a:pPr marL="457200" indent="-457200">
              <a:buFont typeface="+mj-lt"/>
              <a:buAutoNum type="arabicPeriod"/>
            </a:pPr>
            <a:r>
              <a:rPr lang="tr-TR" dirty="0"/>
              <a:t>Bana ne aldın? (Soru zamiri)</a:t>
            </a:r>
          </a:p>
        </p:txBody>
      </p:sp>
    </p:spTree>
    <p:extLst>
      <p:ext uri="{BB962C8B-B14F-4D97-AF65-F5344CB8AC3E}">
        <p14:creationId xmlns:p14="http://schemas.microsoft.com/office/powerpoint/2010/main" val="5302605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539A5578-D08A-40CD-8CF7-F6B5F793FC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4" y="787872"/>
            <a:ext cx="10691265" cy="1371030"/>
          </a:xfrm>
        </p:spPr>
        <p:txBody>
          <a:bodyPr>
            <a:normAutofit/>
          </a:bodyPr>
          <a:lstStyle/>
          <a:p>
            <a:pPr fontAlgn="base"/>
            <a:r>
              <a:rPr lang="tr-TR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tr-TR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Soru Zarflarıyla Kurulan Soru Cümlesi Örnekleri</a:t>
            </a:r>
            <a:endParaRPr lang="tr-TR" dirty="0">
              <a:solidFill>
                <a:srgbClr val="FF0000"/>
              </a:solidFill>
            </a:endParaRP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2B30D8ED-2293-478F-A821-A61F253B75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00633" y="2158902"/>
            <a:ext cx="10691265" cy="3911225"/>
          </a:xfrm>
        </p:spPr>
        <p:txBody>
          <a:bodyPr>
            <a:normAutofit fontScale="92500" lnSpcReduction="20000"/>
          </a:bodyPr>
          <a:lstStyle/>
          <a:p>
            <a:r>
              <a:rPr lang="tr-TR" dirty="0">
                <a:solidFill>
                  <a:srgbClr val="00B0F0"/>
                </a:solidFill>
              </a:rPr>
              <a:t>Neden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1-Neden ödevlerini yapmadın?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2-Neden bu kadar üzgünsün?</a:t>
            </a:r>
          </a:p>
          <a:p>
            <a:r>
              <a:rPr lang="tr-TR" dirty="0">
                <a:solidFill>
                  <a:srgbClr val="00B0F0"/>
                </a:solidFill>
              </a:rPr>
              <a:t>Nasıl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1-Buraya nasıl geldin?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2-Ödevini nasıl yaptın?</a:t>
            </a:r>
          </a:p>
          <a:p>
            <a:r>
              <a:rPr lang="tr-TR" dirty="0">
                <a:solidFill>
                  <a:srgbClr val="00B0F0"/>
                </a:solidFill>
              </a:rPr>
              <a:t>Niçin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Dün akşam gönderdiğim mesaja niçin cevap yazmadın? </a:t>
            </a:r>
          </a:p>
          <a:p>
            <a:pPr marL="0" indent="0">
              <a:buNone/>
            </a:pP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   2-Niçin her şeyi kenara bırakıp tekrar başlamıyoruz? </a:t>
            </a:r>
          </a:p>
          <a:p>
            <a:pPr marL="0" indent="0">
              <a:buNone/>
            </a:pPr>
            <a:endParaRPr lang="tr-TR" dirty="0">
              <a:solidFill>
                <a:srgbClr val="00B0F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330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76733326-A6BB-4E32-9162-E33BB3A60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b="0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tr-TR" b="1" i="0" u="none" strike="noStrike" dirty="0">
                <a:solidFill>
                  <a:srgbClr val="FF0000"/>
                </a:solidFill>
                <a:effectLst/>
                <a:latin typeface="Arial" panose="020B0604020202020204" pitchFamily="34" charset="0"/>
              </a:rPr>
              <a:t>Soru SIFATLARIYLA Kurulan Soru Cümlesi Örnekleri</a:t>
            </a:r>
            <a:endParaRPr lang="tr-TR" dirty="0"/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00F6D67E-7048-474E-9402-22A0BFD8B8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tr-TR" dirty="0">
                <a:solidFill>
                  <a:srgbClr val="00B0F0"/>
                </a:solidFill>
              </a:rPr>
              <a:t>Kaç/Kaçıncı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</a:t>
            </a:r>
            <a:r>
              <a:rPr lang="nb-NO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Yaz tatilinde kaç kitap okudun? </a:t>
            </a:r>
            <a:endParaRPr lang="tr-TR" dirty="0"/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2-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Kardeşin kaçıncı sınıfa gidiyor? </a:t>
            </a:r>
          </a:p>
          <a:p>
            <a:r>
              <a:rPr lang="tr-TR" dirty="0">
                <a:solidFill>
                  <a:srgbClr val="00B0F0"/>
                </a:solidFill>
              </a:rPr>
              <a:t>Hangi</a:t>
            </a: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1-Hangi kitabı okumak istiyorsun?</a:t>
            </a:r>
            <a:endParaRPr lang="tr-TR" dirty="0">
              <a:solidFill>
                <a:srgbClr val="00B0F0"/>
              </a:solidFill>
            </a:endParaRPr>
          </a:p>
          <a:p>
            <a:pPr marL="0" indent="0">
              <a:buNone/>
            </a:pPr>
            <a:r>
              <a:rPr lang="tr-TR" dirty="0">
                <a:solidFill>
                  <a:srgbClr val="00B0F0"/>
                </a:solidFill>
              </a:rPr>
              <a:t>   </a:t>
            </a:r>
            <a:r>
              <a:rPr lang="tr-TR" dirty="0"/>
              <a:t>2-</a:t>
            </a: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Sınavda hangi soruları yanlış yaptın?</a:t>
            </a:r>
            <a:endParaRPr lang="tr-TR" dirty="0"/>
          </a:p>
        </p:txBody>
      </p:sp>
    </p:spTree>
    <p:extLst>
      <p:ext uri="{BB962C8B-B14F-4D97-AF65-F5344CB8AC3E}">
        <p14:creationId xmlns:p14="http://schemas.microsoft.com/office/powerpoint/2010/main" val="3683972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B7EED045-C699-4AB1-B63D-F1BE33B01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dirty="0">
                <a:solidFill>
                  <a:srgbClr val="FF0000"/>
                </a:solidFill>
              </a:rPr>
              <a:t>SÖZDE SORU CÜMLESİ NEDİR?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5E6E7211-F081-46E2-A43D-F5F74ABB4A6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tr-TR" b="0" i="0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Sözde soru cümleleri biçim olarak gerçek soru cümlelerine benzemektedir. Ancak soru sormak ve bilgi almak amacı ile kullanılmazlar. Genellikle bir duygunun aktarılması amacı ile kullanılan cümlelerdir. </a:t>
            </a:r>
          </a:p>
          <a:p>
            <a:pPr marL="457200" indent="-457200" algn="l" fontAlgn="base">
              <a:buFont typeface="+mj-lt"/>
              <a:buAutoNum type="arabicPeriod"/>
            </a:pPr>
            <a:r>
              <a:rPr lang="tr-TR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Sözde soru cümlelerinde bir cevap alma kaygısı bulunmaz. Genelde beğenme, rica, yalanlama, onaylama gibi anlamlar için kullanılmaktadır.</a:t>
            </a:r>
          </a:p>
        </p:txBody>
      </p:sp>
    </p:spTree>
    <p:extLst>
      <p:ext uri="{BB962C8B-B14F-4D97-AF65-F5344CB8AC3E}">
        <p14:creationId xmlns:p14="http://schemas.microsoft.com/office/powerpoint/2010/main" val="212052360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aşlık 1">
            <a:extLst>
              <a:ext uri="{FF2B5EF4-FFF2-40B4-BE49-F238E27FC236}">
                <a16:creationId xmlns:a16="http://schemas.microsoft.com/office/drawing/2014/main" id="{9286C7AB-30A5-41B5-9AF6-DE24E09025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00635" y="928786"/>
            <a:ext cx="10691265" cy="1371030"/>
          </a:xfrm>
        </p:spPr>
        <p:txBody>
          <a:bodyPr/>
          <a:lstStyle/>
          <a:p>
            <a:r>
              <a:rPr lang="tr-TR" dirty="0">
                <a:solidFill>
                  <a:srgbClr val="FF0000"/>
                </a:solidFill>
              </a:rPr>
              <a:t>SÖZDE SORU CÜMLESİ ÖRNEKLERİ</a:t>
            </a:r>
          </a:p>
        </p:txBody>
      </p:sp>
      <p:sp>
        <p:nvSpPr>
          <p:cNvPr id="3" name="İçerik Yer Tutucusu 2">
            <a:extLst>
              <a:ext uri="{FF2B5EF4-FFF2-40B4-BE49-F238E27FC236}">
                <a16:creationId xmlns:a16="http://schemas.microsoft.com/office/drawing/2014/main" id="{A2A550D9-7B6F-4F5F-A4E4-6D969108F0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 algn="l" fontAlgn="base">
              <a:buFont typeface="+mj-lt"/>
              <a:buAutoNum type="arabicPeriod"/>
            </a:pPr>
            <a:r>
              <a:rPr lang="tr-TR" b="0" i="0" u="none" strike="noStrike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 yemeği kim yemez?</a:t>
            </a:r>
          </a:p>
          <a:p>
            <a:pPr marL="457200" indent="-457200">
              <a:buFont typeface="+mj-lt"/>
              <a:buAutoNum type="arabicPeriod"/>
            </a:pPr>
            <a:r>
              <a:rPr lang="tr-TR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Hiç kedi sevilmez mi?</a:t>
            </a:r>
          </a:p>
          <a:p>
            <a:pPr marL="457200" indent="-457200">
              <a:buFont typeface="+mj-lt"/>
              <a:buAutoNum type="arabicPeriod"/>
            </a:pPr>
            <a:r>
              <a:rPr lang="tr-TR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Önüne baksan kör müsün?</a:t>
            </a:r>
          </a:p>
          <a:p>
            <a:pPr marL="457200" indent="-457200">
              <a:buFont typeface="+mj-lt"/>
              <a:buAutoNum type="arabicPeriod"/>
            </a:pPr>
            <a:r>
              <a:rPr lang="tr-TR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Bugün öğretmen gelir mi ki?  </a:t>
            </a:r>
            <a:endParaRPr lang="tr-TR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tr-TR" b="0" i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Nerde o günler?</a:t>
            </a:r>
            <a:endParaRPr lang="tr-TR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79167773"/>
      </p:ext>
    </p:extLst>
  </p:cSld>
  <p:clrMapOvr>
    <a:masterClrMapping/>
  </p:clrMapOvr>
</p:sld>
</file>

<file path=ppt/theme/theme1.xml><?xml version="1.0" encoding="utf-8"?>
<a:theme xmlns:a="http://schemas.openxmlformats.org/drawingml/2006/main" name="ChronicleVTI">
  <a:themeElements>
    <a:clrScheme name="AnalogousFromDarkSeedLeftStep">
      <a:dk1>
        <a:srgbClr val="000000"/>
      </a:dk1>
      <a:lt1>
        <a:srgbClr val="FFFFFF"/>
      </a:lt1>
      <a:dk2>
        <a:srgbClr val="413224"/>
      </a:dk2>
      <a:lt2>
        <a:srgbClr val="E8E2E7"/>
      </a:lt2>
      <a:accent1>
        <a:srgbClr val="48B758"/>
      </a:accent1>
      <a:accent2>
        <a:srgbClr val="5BB13B"/>
      </a:accent2>
      <a:accent3>
        <a:srgbClr val="8BAC44"/>
      </a:accent3>
      <a:accent4>
        <a:srgbClr val="AFA33A"/>
      </a:accent4>
      <a:accent5>
        <a:srgbClr val="C3864D"/>
      </a:accent5>
      <a:accent6>
        <a:srgbClr val="B1423B"/>
      </a:accent6>
      <a:hlink>
        <a:srgbClr val="A27C36"/>
      </a:hlink>
      <a:folHlink>
        <a:srgbClr val="7F7F7F"/>
      </a:folHlink>
    </a:clrScheme>
    <a:fontScheme name="Univers Calisto">
      <a:majorFont>
        <a:latin typeface="Univers Condensed"/>
        <a:ea typeface=""/>
        <a:cs typeface=""/>
      </a:majorFont>
      <a:minorFont>
        <a:latin typeface="Calisto M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hronicleVTI" id="{508E4D90-5116-4BF0-876B-3F422DD1F65F}" vid="{AA21DC3D-92A8-43A4-8358-ED428371CD5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</TotalTime>
  <Words>269</Words>
  <Application>Microsoft Office PowerPoint</Application>
  <PresentationFormat>Geniş ekran</PresentationFormat>
  <Paragraphs>38</Paragraphs>
  <Slides>7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3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7</vt:i4>
      </vt:variant>
    </vt:vector>
  </HeadingPairs>
  <TitlesOfParts>
    <vt:vector size="11" baseType="lpstr">
      <vt:lpstr>Arial</vt:lpstr>
      <vt:lpstr>Calisto MT</vt:lpstr>
      <vt:lpstr>Univers Condensed</vt:lpstr>
      <vt:lpstr>ChronicleVTI</vt:lpstr>
      <vt:lpstr>Soru Cümleleri</vt:lpstr>
      <vt:lpstr>Soru cümlesi nedir?</vt:lpstr>
      <vt:lpstr>Soru Cümlesi örnekleri</vt:lpstr>
      <vt:lpstr> Soru Zarflarıyla Kurulan Soru Cümlesi Örnekleri</vt:lpstr>
      <vt:lpstr> Soru SIFATLARIYLA Kurulan Soru Cümlesi Örnekleri</vt:lpstr>
      <vt:lpstr>SÖZDE SORU CÜMLESİ NEDİR?</vt:lpstr>
      <vt:lpstr>SÖZDE SORU CÜMLESİ ÖRNEKLERİ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Soru Cümleleri</dc:title>
  <dc:creator>kadir mert yıldız</dc:creator>
  <cp:lastModifiedBy>kadir mert yıldız</cp:lastModifiedBy>
  <cp:revision>2</cp:revision>
  <dcterms:created xsi:type="dcterms:W3CDTF">2022-03-15T16:44:42Z</dcterms:created>
  <dcterms:modified xsi:type="dcterms:W3CDTF">2022-03-15T19:43:12Z</dcterms:modified>
</cp:coreProperties>
</file>